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e242f3634_0_1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4e242f3634_0_1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6afcedb9f7_0_4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6afcedb9f7_0_4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6b05572bed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6b05572bed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691c398e98_0_6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691c398e98_0_6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b6e3897f4_0_19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6b6e3897f4_0_19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c193fc9e9_0_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6c193fc9e9_0_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91c398e98_0_3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691c398e98_0_3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91c398e98_0_42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691c398e98_0_42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b6e3897f4_0_24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6b6e3897f4_0_24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b6e3897f4_0_3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6b6e3897f4_0_3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e242f3634_0_6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4e242f3634_0_6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91c398e98_0_1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691c398e98_0_1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91c398e98_0_37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691c398e98_0_37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91c398e98_0_1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691c398e98_0_1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afcedb9f7_0_10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6afcedb9f7_0_10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afcedb9f7_0_2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6afcedb9f7_0_2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afcedb9f7_0_33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6afcedb9f7_0_33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6afcedb9f7_0_48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6afcedb9f7_0_48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6c193fc9e9_0_5:notes"/>
          <p:cNvSpPr txBox="1"/>
          <p:nvPr>
            <p:ph idx="1" type="body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6c193fc9e9_0_5:notes"/>
          <p:cNvSpPr/>
          <p:nvPr>
            <p:ph idx="2" type="sldImg"/>
          </p:nvPr>
        </p:nvSpPr>
        <p:spPr>
          <a:xfrm>
            <a:off x="1143225" y="685778"/>
            <a:ext cx="4572300" cy="34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obj">
  <p:cSld name="OBJEC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DB1E2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4523923"/>
            <a:ext cx="2078075" cy="619574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/>
          <p:nvPr>
            <p:ph type="ctrTitle"/>
          </p:nvPr>
        </p:nvSpPr>
        <p:spPr>
          <a:xfrm>
            <a:off x="384733" y="852537"/>
            <a:ext cx="83343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800">
                <a:solidFill>
                  <a:srgbClr val="DB1E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6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84725" y="359438"/>
            <a:ext cx="45357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2800">
                <a:solidFill>
                  <a:srgbClr val="DB1E2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550259" y="1079196"/>
            <a:ext cx="8182800" cy="3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800"/>
              <a:buNone/>
              <a:defRPr b="0" i="0" sz="165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84733" y="852537"/>
            <a:ext cx="8334300" cy="20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9200">
            <a:spAutoFit/>
          </a:bodyPr>
          <a:lstStyle/>
          <a:p>
            <a:pPr indent="0" lvl="0" marL="12700" marR="5080" rtl="0" algn="l">
              <a:lnSpc>
                <a:spcPct val="1192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900">
                <a:solidFill>
                  <a:srgbClr val="FFFFFF"/>
                </a:solidFill>
              </a:rPr>
              <a:t>Modelo de Suporte à Decisão para Obras Públicas com Base em Mineração de Dados</a:t>
            </a:r>
            <a:endParaRPr sz="3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84725" y="3196296"/>
            <a:ext cx="54567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Anderson Felinto</a:t>
            </a:r>
            <a:endParaRPr sz="16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Bezaleel Lira da Silva</a:t>
            </a:r>
            <a:endParaRPr sz="16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Marcio Oliveira de Brito</a:t>
            </a:r>
            <a:endParaRPr sz="16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Saulo Henrique do Nascimento</a:t>
            </a:r>
            <a:endParaRPr sz="16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Thaylor Vieira Martins</a:t>
            </a:r>
            <a:endParaRPr sz="16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84725" y="359450"/>
            <a:ext cx="6735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Revisão do projeto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50259" y="1079196"/>
            <a:ext cx="8182800" cy="3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Temos como objetivo nesse projeto dar suporte à decisão sobre a paralisação de obras públicas onde ainda não há nenhuma execução física da obra.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Obras públicas paralisadas geram prejuízos financeiros, desperdício de recursos e impactos sociais negativos.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Muitas paralisações ocorrem antes mesmo do início da execução física, o que indica problemas de gestão e planejamento.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84725" y="359450"/>
            <a:ext cx="6735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Revisão do projeto - Base de dados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550259" y="1079196"/>
            <a:ext cx="8182800" cy="44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Utilizamos a base de dados do Tribunal de Contas da União em 4 períodos diferentes (agosto/22, abril/23, abril/24, abril/25).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Base de dados do IBGE para capturar a informação sobre os biomas das cidades onde as obras se localizam.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Utilizamos a base de dados do Portal da Transparência do governo, onde haviam informações complementares sobre os convênios que a base do TCU não </a:t>
            </a:r>
            <a:r>
              <a:rPr lang="pt-BR" sz="1400">
                <a:solidFill>
                  <a:schemeClr val="dk1"/>
                </a:solidFill>
              </a:rPr>
              <a:t>disponibiliza</a:t>
            </a:r>
            <a:r>
              <a:rPr lang="pt-BR" sz="1400">
                <a:solidFill>
                  <a:schemeClr val="dk1"/>
                </a:solidFill>
              </a:rPr>
              <a:t> (datas de início e fim de vigência).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Pesquisamos outras bases de dados para complementar o modelo, como o IDCS (Índice de Desenvolvimento de Cidade Sustentável) e a base do IGM-CFA (Índice de Gestão Municipal - Conselho Federal de Administração), porém os valores dos índices não foram suficientes para a resolução do problema.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84725" y="359450"/>
            <a:ext cx="67353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Data-mart: Variáveis utilizadas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550259" y="1079196"/>
            <a:ext cx="8182800" cy="44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duracao_vigencia</a:t>
            </a:r>
            <a:r>
              <a:rPr lang="pt-BR" sz="1400">
                <a:solidFill>
                  <a:schemeClr val="dk1"/>
                </a:solidFill>
              </a:rPr>
              <a:t> em meses. </a:t>
            </a:r>
            <a:r>
              <a:rPr lang="pt-BR" sz="1400">
                <a:solidFill>
                  <a:schemeClr val="dk1"/>
                </a:solidFill>
              </a:rPr>
              <a:t>Períodos de vigência muito longos podem indicar falta de pressão para a conclusão. Questões políticas como trocas de mandatos dos prefeitos também podem influenciar muito na paralisação das obras, pois um novo prefeito pode não ter interesse em continuar projetos iniciados pelo antecessor.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vigencia_inicio_dezembro:</a:t>
            </a:r>
            <a:r>
              <a:rPr lang="pt-BR" sz="1400">
                <a:solidFill>
                  <a:schemeClr val="dk1"/>
                </a:solidFill>
              </a:rPr>
              <a:t> exibe as obras que iniciam em dezembro. Essas obras tê</a:t>
            </a:r>
            <a:r>
              <a:rPr lang="pt-BR" sz="1400">
                <a:solidFill>
                  <a:schemeClr val="dk1"/>
                </a:solidFill>
              </a:rPr>
              <a:t>m pouquíssimo tempo para empenhar, liquidar e pagar despesas antes do final do ano fiscal no setor público (31 de dezembro).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tipo_bioma:</a:t>
            </a:r>
            <a:r>
              <a:rPr lang="pt-BR" sz="1400">
                <a:solidFill>
                  <a:schemeClr val="dk1"/>
                </a:solidFill>
              </a:rPr>
              <a:t> se a cidade onde a obra está sendo feita é no bioma semiárido, amazônico, ou ‘outros’. Reflete dificuldades logísticas, clima extremo e menor infraestrutura local.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saude_esporte_cat_descricao:</a:t>
            </a:r>
            <a:r>
              <a:rPr lang="pt-BR" sz="1400">
                <a:solidFill>
                  <a:schemeClr val="dk1"/>
                </a:solidFill>
              </a:rPr>
              <a:t> exibe obras da área da saúde e esporte, pois </a:t>
            </a:r>
            <a:r>
              <a:rPr lang="pt-BR" sz="1400">
                <a:solidFill>
                  <a:schemeClr val="dk1"/>
                </a:solidFill>
              </a:rPr>
              <a:t>possuem maior visibilidade social e política, pressão popular por entrega e prioridade na alocação de recursos.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proporcao_contrapartida</a:t>
            </a:r>
            <a:r>
              <a:rPr lang="pt-BR" sz="1400">
                <a:solidFill>
                  <a:schemeClr val="dk1"/>
                </a:solidFill>
              </a:rPr>
              <a:t> (valor_investimento/valor_contrapartida): ajuda a identificar se a obra tem apoio local suficiente para superar obstáculos ou se depende quase exclusivamente de repasses federais, o que a torna mais vulnerável à paralisação.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84725" y="359450"/>
            <a:ext cx="67353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Data-mart: Variáveis utilizadas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550259" y="1079196"/>
            <a:ext cx="8182800" cy="42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investimento_mensal_medio</a:t>
            </a:r>
            <a:r>
              <a:rPr lang="pt-BR" sz="1400">
                <a:solidFill>
                  <a:schemeClr val="dk1"/>
                </a:solidFill>
              </a:rPr>
              <a:t> (valor_investimento/duracao_vigencia):</a:t>
            </a:r>
            <a:endParaRPr sz="1400">
              <a:solidFill>
                <a:schemeClr val="dk1"/>
              </a:solidFill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Foi feita a winsorização em 5% e 95% da variável para suavizar o efeito dos outliers, tornando esses valores mais comparáveis com os demais sem a necessidade de removê-los da amostra.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Temos valores entre: R$ 4.221,43/mês e R$ 179.616,72/mês.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2" marL="1371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Sem a winsorização do percentil &gt;95, teríamos valores de até R$ 6.937.692,00/mês (muitos outliers)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2" marL="13716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winsorização do percentil &lt;5 não fez efeito significativo para o modelo, sem ela, teríamos o valor mínimo de R$ 1.666,67/mês.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Quanto maior o valor desta variável, maior é a urgência de entrega dessa obra, pois destaca obras onde se têm um alto investimento e curta duração de vigência.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1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-"/>
            </a:pPr>
            <a:r>
              <a:rPr lang="pt-BR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Quanto menor o valor desta variável, há menos pressão para entrega, justificando possíveis paralisações.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 sz="1400">
                <a:solidFill>
                  <a:schemeClr val="dk1"/>
                </a:solidFill>
              </a:rPr>
              <a:t>exec_financeira: </a:t>
            </a:r>
            <a:r>
              <a:rPr lang="pt-BR" sz="1400">
                <a:solidFill>
                  <a:schemeClr val="dk1"/>
                </a:solidFill>
              </a:rPr>
              <a:t>Exibe quanto da obra já foi paga (em escala de 0 a 1). Quanto maior esse valor, menor a chance de paralisar. 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84725" y="359450"/>
            <a:ext cx="67353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Definição do Target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550259" y="1079196"/>
            <a:ext cx="8182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O target foi definido ao filtrar obras que, em um dos quatro períodos distintos da Base de Dados do TCU, estavam rotuladas como “em execução” e com 0% de execução física.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 Essa etapa é muito importante, pois não deve-se filtrar obras rotuladas como “paralisada”, pois isso é caracterizado como informação a posteriori.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O objetivo do modelo é dar suporte à decisão antes que a paralisação ocorra.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Após esse primeiro filtro, verificou-se se essas mesmas obras estavam rotuladas como “paralisada” em um período de tempo posterior ao inicial. Em caso afirmativo, essas obras são rotuladas como target_vai_paralisar = sim. 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Em seguida, foi feito um segundo filtro para definir o target_vai_paralisar = nao. Para definir essa parte do target, foi necessário verificar se as obras foram concluídas sem nenhuma paralisação.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-"/>
            </a:pPr>
            <a:r>
              <a:rPr lang="pt-BR" sz="1400">
                <a:solidFill>
                  <a:schemeClr val="dk1"/>
                </a:solidFill>
              </a:rPr>
              <a:t>Por fim, foi realizada uma verificação de integridade para garantir que não houvesse obras classificadas simultaneamente como “sim” e “não”. Nenhuma inconsistência foi encontrada, assegurando a não contaminação do target.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84725" y="359450"/>
            <a:ext cx="67353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Valores dos coeficientes e estatísticas - Regressão logística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550259" y="1079196"/>
            <a:ext cx="81828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412" y="1404000"/>
            <a:ext cx="7819174" cy="344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84725" y="359450"/>
            <a:ext cx="8224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 ROC - (AUC=0.773) - Regressão Logística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550259" y="1079196"/>
            <a:ext cx="81828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5000" y="803150"/>
            <a:ext cx="4994005" cy="418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type="title"/>
          </p:nvPr>
        </p:nvSpPr>
        <p:spPr>
          <a:xfrm>
            <a:off x="384725" y="359450"/>
            <a:ext cx="8224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Árvore de decisão</a:t>
            </a:r>
            <a:endParaRPr/>
          </a:p>
        </p:txBody>
      </p:sp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550254" y="1079206"/>
            <a:ext cx="4828200" cy="3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Para evitar ramos mais profundos com regras muito específicas, limitamos o “Min number records per node” para 230.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Podemos observar que as variáveis de duracao_vigencia e exec_financeira (que tiveram os dois extremos dos coeficientes na regressão logística) são as primeiras a serem utilizadas na árvore também.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Obs.: No terceiro nível, a variável que aparece com o nome cortado é a sim_vigencia_inicio_dezembro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7050" y="0"/>
            <a:ext cx="366694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84725" y="359450"/>
            <a:ext cx="82242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Curva ROC - (AUC=0.705) - Árvore de Decisão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550259" y="1079196"/>
            <a:ext cx="8182800" cy="16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7" name="Google Shape;1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563" y="803150"/>
            <a:ext cx="4940525" cy="418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84725" y="359450"/>
            <a:ext cx="8234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550250" y="1079200"/>
            <a:ext cx="8400600" cy="23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3506 exemplos na amostra de treinamento: nao (2638; 75.24%), sim (868; 24.76%)</a:t>
            </a:r>
            <a:endParaRPr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pt-BR">
                <a:solidFill>
                  <a:schemeClr val="dk1"/>
                </a:solidFill>
              </a:rPr>
              <a:t>1169 exemplos na amostra de teste: nao (880; 75.28%), sim (289; 24.72%)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75" y="2008100"/>
            <a:ext cx="7827351" cy="2477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84725" y="359450"/>
            <a:ext cx="8234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 usando JRip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550250" y="1079200"/>
            <a:ext cx="8400600" cy="3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Escolhemos o JRip pois ele foca em criar regras para a classe alvo (minoritária) e nosso dataset é desbalanceado (75% não / 25% sim).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JRip cria as regras da classe alvo, e tudo que não pertencer à alvo é jogado em uma única regra para a classe majoritária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Com o dataset desbalanceado, ao utilizar o PART o modelo focava mais nas regras do ‘não’.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Utilizamos o PART somente de forma complementar para usar as regras mais gerais que definem o ‘não’, já que o JRip não consegue gerar essas regras.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84725" y="359450"/>
            <a:ext cx="82341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 - JRip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550250" y="1079200"/>
            <a:ext cx="84006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Regra 1 (justifica o ‘sim’):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duracao_vigencia &gt;= 67 AND exec_financeira &gt;= 0.096 AND exec_financeira &lt;= 0.376 =&gt; "sim"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obra possui vigência igual ou superior a 67 meses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execução financeira está entre 9,6% e 37,6%,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ENTÃO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há 59,52% de chance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(confiança)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que ela venha a paralisar, pois esse perfil combina longo tempo de vigência com avanço financeiro lento, o que indica risco de estagnação. A regra apresenta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7,2%. Obras com essas características têm 2,4 vezes mais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(lift)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chance de paralisar do que a média.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384725" y="359438"/>
            <a:ext cx="45357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Indução de regras - JRip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550259" y="1079196"/>
            <a:ext cx="8182800" cy="35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Regra 2 </a:t>
            </a:r>
            <a:r>
              <a:rPr lang="pt-BR" sz="1400">
                <a:solidFill>
                  <a:schemeClr val="dk1"/>
                </a:solidFill>
              </a:rPr>
              <a:t>(justifica o ‘sim’)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duracao_vigencia &gt;= 50 AND Semiárido_tipo_bioma &gt;= 1 AND exec_financeira &lt;= 0.4512 =&gt; "sim"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obra possui vigência igual ou superior a 50 meses, está localizada no bioma Semiárido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execução financeira é inferior ou igual a 45,12%,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ENTÃO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há 60,24% de chance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(confiança)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que ela venha a paralisar, pois esse perfil representa obras com prazo razoavelmente longo, inseridas em uma região com histórico de vulnerabilidades operacionais, e com execução financeira ainda limitada — o que pode refletir dificuldades estruturais ou de gestão. A regra apresenta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7,1%. Obras com essas características têm 2,44 vezes mais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(lift)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chance de paralisar do que a média.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384725" y="359438"/>
            <a:ext cx="4535700" cy="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/>
              <a:t>Indução de regras - JRip</a:t>
            </a:r>
            <a:endParaRPr/>
          </a:p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541759" y="917396"/>
            <a:ext cx="8182800" cy="40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Regra 3 </a:t>
            </a:r>
            <a:r>
              <a:rPr lang="pt-BR" sz="1400">
                <a:solidFill>
                  <a:schemeClr val="dk1"/>
                </a:solidFill>
              </a:rPr>
              <a:t>(justifica o ‘sim’)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exec_financeira &lt;= 0.2744 AND duracao_vigencia &gt;= 50 AND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vigencia_inicio_dezembro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&gt;= 1 AND investimento_mensal_medio &lt;= 95934.84 =&gt; "sim"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obra possui execução financeira igual ou inferior a 27,44%, vigência igual ou superior a 50 meses, início previsto para o mês de dezembro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investimento mensal médio é igual ou inferior a R$ 95.934,84,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ENTÃO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há 59% de chance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(confiança)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que ela venha a paralisar, pois esse perfil reúne obras com baixo avanço financeiro, vigência prolongada, início no final do ano fiscal — o que dificulta o uso imediato dos recursos — e valores de investimento mensal que não indicam uma pressão iminente para finalização, como ocorre em projetos com recursos muito altos e prazos curtos. A ausência dessa pressão pode levar à despriorização ou inércia na execução. A regra apresenta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10%. Obras com essas características têm 2,39 vezes mais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(lift)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chance de paralisar do que a média.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/>
          <p:nvPr>
            <p:ph type="title"/>
          </p:nvPr>
        </p:nvSpPr>
        <p:spPr>
          <a:xfrm>
            <a:off x="384725" y="359438"/>
            <a:ext cx="4535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 - PART</a:t>
            </a:r>
            <a:endParaRPr/>
          </a:p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550259" y="1079196"/>
            <a:ext cx="8182800" cy="30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Regra 4 </a:t>
            </a:r>
            <a:r>
              <a:rPr lang="pt-BR" sz="1400">
                <a:solidFill>
                  <a:schemeClr val="dk1"/>
                </a:solidFill>
              </a:rPr>
              <a:t>(justifica o ‘nao’)</a:t>
            </a:r>
            <a:r>
              <a:rPr lang="pt-BR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>
                <a:solidFill>
                  <a:schemeClr val="dk1"/>
                </a:solidFill>
              </a:rPr>
              <a:t>exec_financeira &gt; 0.4619 =&gt; "nao"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obra possui execução financeira superior a 46,19%,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ENTÃO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há 90% de chance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(confiança)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que ela não venha a paralisar, pois esse nível de execução indica que a obra já avançou significativamente no aspecto financeiro, o que geralmente reflete estabilidade contratual, prioridade institucional e menor risco de interrupção. A regra apresenta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40%. Obras com essas características têm 1,2 vezes mais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(lift)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chance de não paralisar do que a média.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/>
          <p:nvPr>
            <p:ph type="title"/>
          </p:nvPr>
        </p:nvSpPr>
        <p:spPr>
          <a:xfrm>
            <a:off x="384725" y="359438"/>
            <a:ext cx="4535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 - PART</a:t>
            </a:r>
            <a:endParaRPr/>
          </a:p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550259" y="1079196"/>
            <a:ext cx="8182800" cy="32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Regra 5 </a:t>
            </a:r>
            <a:r>
              <a:rPr lang="pt-BR" sz="1400">
                <a:solidFill>
                  <a:schemeClr val="dk1"/>
                </a:solidFill>
              </a:rPr>
              <a:t>(justifica o ‘nao’):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duracao_vigencia &lt; 51 AND exec_financeira &lt;= 0.4619 =&gt; "nao"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obra possui vigência inferior a 51 meses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execução financeira é igual ou inferior a 46,19%,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ENTÃO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há 78,5% de chance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(confiança)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que ela não venha a paralisar, pois esse perfil representa obras com prazos curtos e execução financeira ainda em estágio inicial ou intermediário, mas que, por sua curta duração, têm maior chance de serem finalizadas rapidamente mesmo com pouco avanço atual. Essa regra complementa a anterior, cobrindo a faixa restante de execução financeira. A regra apresenta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cobertura 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30%. Obras com essas características têm 1,04 vezes mais </a:t>
            </a:r>
            <a:r>
              <a:rPr b="1"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(lift)</a:t>
            </a:r>
            <a:r>
              <a:rPr lang="pt-BR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chance de não paralisar do que a média.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84725" y="359438"/>
            <a:ext cx="45357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Indução de regras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550259" y="1079196"/>
            <a:ext cx="8182800" cy="1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-"/>
            </a:pPr>
            <a:r>
              <a:rPr lang="pt-BR">
                <a:solidFill>
                  <a:schemeClr val="dk1"/>
                </a:solidFill>
              </a:rPr>
              <a:t>Valores das regras calculadas no KNIME: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77" name="Google Shape;17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5300" y="1632577"/>
            <a:ext cx="6533400" cy="25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84725" y="359450"/>
            <a:ext cx="59598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Comparação entre os modelos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550250" y="1079201"/>
            <a:ext cx="81828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-"/>
            </a:pPr>
            <a:r>
              <a:rPr lang="pt-BR" sz="1400">
                <a:solidFill>
                  <a:schemeClr val="dk1"/>
                </a:solidFill>
              </a:rPr>
              <a:t>JRip superou os outros dois modelos em praticamente todas as métricas.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A Regressão Logística teve o melhor desempenho em recall entre os modelos clássicos (0.415), importante em contextos onde o custo de não prever o risco é alto.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pt-BR" sz="1400">
                <a:solidFill>
                  <a:schemeClr val="dk1"/>
                </a:solidFill>
              </a:rPr>
              <a:t>A Árvore de Decisão ficou um pouco abaixo em relação aos outros algoritmos.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800" y="2397471"/>
            <a:ext cx="82677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